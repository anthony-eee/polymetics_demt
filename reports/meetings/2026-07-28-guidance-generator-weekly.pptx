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87968" y="-1389888"/>
            <a:ext cx="4617720" cy="4617720"/>
          </a:xfrm>
          <a:prstGeom prst="ellipse">
            <a:avLst/>
          </a:prstGeom>
          <a:solidFill>
            <a:srgbClr val="0E746F"/>
          </a:solidFill>
          <a:ln w="12700"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329184"/>
            <a:ext cx="2514600" cy="2514600"/>
          </a:xfrm>
          <a:prstGeom prst="ellipse">
            <a:avLst/>
          </a:prstGeom>
          <a:solidFill>
            <a:srgbClr val="11456B"/>
          </a:solidFill>
          <a:ln w="12700">
            <a:solidFill>
              <a:srgbClr val="11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14232" y="4169663"/>
            <a:ext cx="1874519" cy="1874519"/>
          </a:xfrm>
          <a:prstGeom prst="ellipse">
            <a:avLst/>
          </a:prstGeom>
          <a:solidFill>
            <a:srgbClr val="A35E12"/>
          </a:solidFill>
          <a:ln w="12700">
            <a:solidFill>
              <a:srgbClr val="A35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621792"/>
            <a:ext cx="3246120" cy="320040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324612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9EEAE4"/>
                </a:solidFill>
                <a:latin typeface="Microsoft YaHei"/>
              </a:defRPr>
            </a:pPr>
            <a:r>
              <a:t>WEEKLY RESEARCH UPDATE · 28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7909560" cy="1572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5000"/>
              </a:lnSpc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从 Spatial Evidence</a:t>
            </a:r>
            <a:br/>
            <a:r>
              <a:t>到 Guidance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82112"/>
            <a:ext cx="7086600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0000"/>
              </a:lnSpc>
              <a:defRPr sz="1900" b="0">
                <a:solidFill>
                  <a:srgbClr val="C8D7E8"/>
                </a:solidFill>
                <a:latin typeface="Microsoft YaHei"/>
              </a:defRPr>
            </a:pPr>
            <a:r>
              <a:t>30 条 demonstrations 下，寻找 DP learner 的</a:t>
            </a:r>
            <a:br/>
            <a:r>
              <a:t>learnability–generalisation sweet spots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645152"/>
            <a:ext cx="1225296" cy="320040"/>
          </a:xfrm>
          <a:prstGeom prst="roundRect">
            <a:avLst/>
          </a:prstGeom>
          <a:solidFill>
            <a:srgbClr val="173B63"/>
          </a:solidFill>
          <a:ln w="12700"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654296"/>
            <a:ext cx="1225296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BFD9F5"/>
                </a:solidFill>
                <a:latin typeface="Microsoft YaHei"/>
              </a:defRPr>
            </a:pPr>
            <a:r>
              <a:t>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4645152"/>
            <a:ext cx="1225296" cy="320040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4654296"/>
            <a:ext cx="1225296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9EEAE4"/>
                </a:solidFill>
                <a:latin typeface="Microsoft YaHei"/>
              </a:defRPr>
            </a:pPr>
            <a:r>
              <a:t>N =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9312" y="4645152"/>
            <a:ext cx="1225296" cy="320040"/>
          </a:xfrm>
          <a:prstGeom prst="roundRect">
            <a:avLst/>
          </a:prstGeom>
          <a:solidFill>
            <a:srgbClr val="5E3710"/>
          </a:solidFill>
          <a:ln w="12700">
            <a:solidFill>
              <a:srgbClr val="5E3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4654296"/>
            <a:ext cx="1225296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D59A"/>
                </a:solidFill>
                <a:latin typeface="Microsoft YaHei"/>
              </a:defRPr>
            </a:pPr>
            <a:r>
              <a:t>ID vs 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96128"/>
            <a:ext cx="9829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AFC3DA"/>
                </a:solidFill>
                <a:latin typeface="Microsoft YaHei"/>
              </a:defRPr>
            </a:pPr>
            <a:r>
              <a:t>核心观点：variance 不是越小或越大越好，而是需要按 trajectory stage 与 deployment objective 生成。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4" y="6172200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AFC3DA"/>
                </a:solidFill>
                <a:latin typeface="Microsoft YaHei"/>
              </a:defRPr>
            </a:pPr>
            <a:r>
              <a:t>T-RO research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一页总览：本周完成了什么？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048256"/>
            <a:ext cx="786384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78638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0B8F8A"/>
                </a:solidFill>
                <a:latin typeface="Microsoft YaHei"/>
              </a:defRPr>
            </a:pPr>
            <a: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60904"/>
            <a:ext cx="21031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Microsoft YaHei"/>
              </a:defRPr>
            </a:pPr>
            <a:r>
              <a:t>Guidance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47288"/>
            <a:ext cx="2084831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defRPr sz="1330" b="0">
                <a:solidFill>
                  <a:srgbClr val="52627A"/>
                </a:solidFill>
                <a:latin typeface="Microsoft YaHei"/>
              </a:defRPr>
            </a:pPr>
            <a:r>
              <a:t>目标是自动输出 stage-conditioned variance，而不是人工调一个全局 tolerance。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47088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75887" y="2048256"/>
            <a:ext cx="786384" cy="32004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E2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57400"/>
            <a:ext cx="78638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3A86FF"/>
                </a:solidFill>
                <a:latin typeface="Microsoft YaHei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660904"/>
            <a:ext cx="21031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Microsoft YaHei"/>
              </a:defRPr>
            </a:pPr>
            <a:r>
              <a:t>Position 3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447288"/>
            <a:ext cx="2084831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defRPr sz="1330" b="0">
                <a:solidFill>
                  <a:srgbClr val="52627A"/>
                </a:solidFill>
                <a:latin typeface="Microsoft YaHei"/>
              </a:defRPr>
            </a:pPr>
            <a:r>
              <a:t>Start × Approach 全因子；每格 5 个独立 dataset-policy repeats，每份仅 30 条 demonstrations。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47088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7" y="2048256"/>
            <a:ext cx="786384" cy="320040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057400"/>
            <a:ext cx="78638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9F1C"/>
                </a:solidFill>
                <a:latin typeface="Microsoft YaHei"/>
              </a:defRPr>
            </a:pPr>
            <a:r>
              <a:t>FIND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660904"/>
            <a:ext cx="21031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Microsoft YaHei"/>
              </a:defRPr>
            </a:pPr>
            <a:r>
              <a:t>两个 sweet 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447288"/>
            <a:ext cx="2084831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defRPr sz="1330" b="0">
                <a:solidFill>
                  <a:srgbClr val="52627A"/>
                </a:solidFill>
                <a:latin typeface="Microsoft YaHei"/>
              </a:defRPr>
            </a:pPr>
            <a:r>
              <a:t>15/3.6 偏 ID learnability；25/6.0 偏 OOD robustness；近抓取 8.4 cm 全面较弱。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1847088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2048256"/>
            <a:ext cx="786384" cy="320040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F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057400"/>
            <a:ext cx="78638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EF476F"/>
                </a:solidFill>
                <a:latin typeface="Microsoft YaHei"/>
              </a:defRPr>
            </a:pPr>
            <a:r>
              <a:t>SO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660904"/>
            <a:ext cx="21031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Microsoft YaHei"/>
              </a:defRPr>
            </a:pPr>
            <a:r>
              <a:t>Generator 必须多目标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447288"/>
            <a:ext cx="2084831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defRPr sz="1330" b="0">
                <a:solidFill>
                  <a:srgbClr val="52627A"/>
                </a:solidFill>
                <a:latin typeface="Microsoft YaHei"/>
              </a:defRPr>
            </a:pPr>
            <a:r>
              <a:t>不应输出“唯一最优 variance”；应给出 Pareto guidance，再按任务风险与人的负担选择。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76672"/>
            <a:ext cx="10762488" cy="658368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532120"/>
            <a:ext cx="102412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本周 evidence 的价值：证明“trajectory stage × variance × deployment objective”之间存在可学习结构。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9EEAE4"/>
                </a:solidFill>
                <a:latin typeface="Microsoft YaHei"/>
              </a:defRPr>
            </a:pPr>
            <a:r>
              <a:t>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总纲：我们真正要学习的不是一个半径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52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A"/>
                </a:solidFill>
                <a:latin typeface="Microsoft YaHei"/>
              </a:defRPr>
            </a:pPr>
            <a:r>
              <a:t>目标：给定任务、阶段、learner 与数据预算，预测“哪里需要一致，哪里可以多样”。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1F36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AFC3D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AFC3DA"/>
                </a:solidFill>
                <a:latin typeface="Microsoft YaHei"/>
              </a:defRPr>
            </a:pPr>
            <a:r>
              <a:t>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1426464" cy="1078992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12848"/>
            <a:ext cx="12801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任务 / 阶段</a:t>
            </a:r>
            <a:br/>
            <a:r>
              <a:t>context</a:t>
            </a:r>
          </a:p>
        </p:txBody>
      </p:sp>
      <p:sp>
        <p:nvSpPr>
          <p:cNvPr id="11" name="Chevron 10"/>
          <p:cNvSpPr/>
          <p:nvPr/>
        </p:nvSpPr>
        <p:spPr>
          <a:xfrm>
            <a:off x="2194560" y="2322576"/>
            <a:ext cx="320040" cy="457200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42032" y="1993392"/>
            <a:ext cx="1426464" cy="1078992"/>
          </a:xfrm>
          <a:prstGeom prst="roundRect">
            <a:avLst/>
          </a:prstGeom>
          <a:solidFill>
            <a:srgbClr val="0E746F"/>
          </a:solidFill>
          <a:ln w="12700"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212848"/>
            <a:ext cx="12801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Compatibility</a:t>
            </a:r>
            <a:br/>
            <a:r>
              <a:t>model</a:t>
            </a:r>
          </a:p>
        </p:txBody>
      </p:sp>
      <p:sp>
        <p:nvSpPr>
          <p:cNvPr id="14" name="Chevron 13"/>
          <p:cNvSpPr/>
          <p:nvPr/>
        </p:nvSpPr>
        <p:spPr>
          <a:xfrm>
            <a:off x="4078224" y="2322576"/>
            <a:ext cx="320040" cy="457200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93392"/>
            <a:ext cx="1426464" cy="1078992"/>
          </a:xfrm>
          <a:prstGeom prst="roundRect">
            <a:avLst/>
          </a:prstGeom>
          <a:solidFill>
            <a:srgbClr val="5E3710"/>
          </a:solidFill>
          <a:ln w="12700">
            <a:solidFill>
              <a:srgbClr val="5E3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212848"/>
            <a:ext cx="12801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Variance</a:t>
            </a:r>
            <a:br/>
            <a:r>
              <a:t>schedule</a:t>
            </a:r>
          </a:p>
        </p:txBody>
      </p:sp>
      <p:sp>
        <p:nvSpPr>
          <p:cNvPr id="17" name="Chevron 16"/>
          <p:cNvSpPr/>
          <p:nvPr/>
        </p:nvSpPr>
        <p:spPr>
          <a:xfrm>
            <a:off x="5961888" y="2322576"/>
            <a:ext cx="320040" cy="457200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993392"/>
            <a:ext cx="1426464" cy="1078992"/>
          </a:xfrm>
          <a:prstGeom prst="roundRect">
            <a:avLst/>
          </a:prstGeom>
          <a:solidFill>
            <a:srgbClr val="54315D"/>
          </a:solidFill>
          <a:ln w="12700">
            <a:solidFill>
              <a:srgbClr val="543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212848"/>
            <a:ext cx="12801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Human</a:t>
            </a:r>
            <a:br/>
            <a:r>
              <a:t>Guidance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7845552" y="2322576"/>
            <a:ext cx="320040" cy="457200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4" y="1993392"/>
            <a:ext cx="1426464" cy="1078992"/>
          </a:xfrm>
          <a:prstGeom prst="roundRect">
            <a:avLst/>
          </a:prstGeom>
          <a:solidFill>
            <a:srgbClr val="25405C"/>
          </a:solidFill>
          <a:ln w="12700">
            <a:solidFill>
              <a:srgbClr val="25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212848"/>
            <a:ext cx="12801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30 demos</a:t>
            </a:r>
            <a:br/>
            <a:r>
              <a:t>→ DP</a:t>
            </a:r>
          </a:p>
        </p:txBody>
      </p:sp>
      <p:sp>
        <p:nvSpPr>
          <p:cNvPr id="23" name="Chevron 22"/>
          <p:cNvSpPr/>
          <p:nvPr/>
        </p:nvSpPr>
        <p:spPr>
          <a:xfrm>
            <a:off x="9729216" y="2322576"/>
            <a:ext cx="320040" cy="457200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76688" y="1993392"/>
            <a:ext cx="1426464" cy="1078992"/>
          </a:xfrm>
          <a:prstGeom prst="roundRect">
            <a:avLst/>
          </a:prstGeom>
          <a:solidFill>
            <a:srgbClr val="743148"/>
          </a:solidFill>
          <a:ln w="12700">
            <a:solidFill>
              <a:srgbClr val="74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212848"/>
            <a:ext cx="12801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ID / OOD</a:t>
            </a:r>
            <a:br/>
            <a:r>
              <a:t>deployment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71600" y="3273552"/>
            <a:ext cx="9409176" cy="0"/>
          </a:xfrm>
          <a:prstGeom prst="line">
            <a:avLst/>
          </a:prstGeom>
          <a:ln w="16510">
            <a:solidFill>
              <a:srgbClr val="3952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70832" y="3364992"/>
            <a:ext cx="3520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9FB5CC"/>
                </a:solidFill>
                <a:latin typeface="Microsoft YaHei"/>
              </a:defRPr>
            </a:pPr>
            <a:r>
              <a:t>deployment results 形成闭环监督信号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" y="4041648"/>
            <a:ext cx="10469880" cy="1335024"/>
          </a:xfrm>
          <a:prstGeom prst="roundRect">
            <a:avLst/>
          </a:prstGeom>
          <a:solidFill>
            <a:srgbClr val="0D2138"/>
          </a:solidFill>
          <a:ln w="12700">
            <a:solidFill>
              <a:srgbClr val="1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315968"/>
            <a:ext cx="187451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9EEAE4"/>
                </a:solidFill>
                <a:latin typeface="Microsoft YaHei"/>
              </a:defRPr>
            </a:pPr>
            <a:r>
              <a:t>Generator 的输出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178808"/>
            <a:ext cx="45720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2300" b="1">
                <a:solidFill>
                  <a:srgbClr val="FFFFFF"/>
                </a:solidFill>
                <a:latin typeface="Aptos"/>
              </a:defRPr>
            </a:pPr>
            <a:r>
              <a:t>σ₁(Start), σ₂(Approach), σ₃(Contact),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4315968"/>
            <a:ext cx="2148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D59A"/>
                </a:solidFill>
                <a:latin typeface="Microsoft YaHei"/>
              </a:defRPr>
            </a:pPr>
            <a:r>
              <a:t>不是 single global 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828032"/>
            <a:ext cx="96743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AFC3DA"/>
                </a:solidFill>
                <a:latin typeface="Microsoft YaHei"/>
              </a:defRPr>
            </a:pPr>
            <a:r>
              <a:t>选择原则：满足 learnability 与 robustness 门槛，同时尽量减少对人类教师的限制。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为什么只有 30 条数据时，variance 必须被设计？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04 / 14</a:t>
            </a:r>
          </a:p>
        </p:txBody>
      </p:sp>
      <p:pic>
        <p:nvPicPr>
          <p:cNvPr id="8" name="Picture 7" descr="small_data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6629400" cy="38034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88936" y="1755648"/>
            <a:ext cx="4023360" cy="1152144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E2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984248"/>
            <a:ext cx="11704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太一致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1929384"/>
            <a:ext cx="235915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17233C"/>
                </a:solidFill>
                <a:latin typeface="Microsoft YaHei"/>
              </a:defRPr>
            </a:pPr>
            <a:r>
              <a:t>容易拟合，但 deployment shift 下脆弱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88936" y="3127248"/>
            <a:ext cx="4023360" cy="1152144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4" y="3355848"/>
            <a:ext cx="11704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FF9F1C"/>
                </a:solidFill>
                <a:latin typeface="Microsoft YaHei"/>
              </a:defRPr>
            </a:pPr>
            <a:r>
              <a:t>太多样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3300984"/>
            <a:ext cx="235915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17233C"/>
                </a:solidFill>
                <a:latin typeface="Microsoft YaHei"/>
              </a:defRPr>
            </a:pPr>
            <a:r>
              <a:t>固定预算被摊薄，DP 难以学到精确动作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936" y="4498848"/>
            <a:ext cx="4023360" cy="1152144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4" y="4727448"/>
            <a:ext cx="11704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B8F8A"/>
                </a:solidFill>
                <a:latin typeface="Microsoft YaHei"/>
              </a:defRPr>
            </a:pPr>
            <a:r>
              <a:t>甜点区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4672584"/>
            <a:ext cx="235915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17233C"/>
                </a:solidFill>
                <a:latin typeface="Microsoft YaHei"/>
              </a:defRPr>
            </a:pPr>
            <a:r>
              <a:t>关键阶段一致；非关键阶段保留必要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815584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C68"/>
                </a:solidFill>
                <a:latin typeface="Microsoft YaHei"/>
              </a:defRPr>
            </a:pPr>
            <a:r>
              <a:t>研究假设：sweet region 随 trajectory stage 与 deployment target 改变。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本周最小验证：只拆 Position 的 Start 与 Approach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05 / 14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719072"/>
            <a:ext cx="658368" cy="658368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37943"/>
            <a:ext cx="6583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487168"/>
            <a:ext cx="11155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B8F8A"/>
                </a:solidFill>
                <a:latin typeface="Microsoft YaHei"/>
              </a:defRPr>
            </a:pPr>
            <a: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8176" y="2048256"/>
            <a:ext cx="1280160" cy="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16936" y="1719072"/>
            <a:ext cx="658368" cy="65836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1837943"/>
            <a:ext cx="6583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2487168"/>
            <a:ext cx="11155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3A86FF"/>
                </a:solidFill>
                <a:latin typeface="Microsoft YaHei"/>
              </a:defRPr>
            </a:pPr>
            <a:r>
              <a:t>Approach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75304" y="2048256"/>
            <a:ext cx="1280160" cy="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84064" y="1719072"/>
            <a:ext cx="658368" cy="658368"/>
          </a:xfrm>
          <a:prstGeom prst="ellipse">
            <a:avLst/>
          </a:prstGeom>
          <a:solidFill>
            <a:srgbClr val="52627A"/>
          </a:solidFill>
          <a:ln w="12700">
            <a:solidFill>
              <a:srgbClr val="52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837943"/>
            <a:ext cx="6583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487168"/>
            <a:ext cx="11155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52627A"/>
                </a:solidFill>
                <a:latin typeface="Microsoft YaHei"/>
              </a:defRPr>
            </a:pPr>
            <a:r>
              <a:t>Descent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42432" y="2048256"/>
            <a:ext cx="1280160" cy="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251192" y="1719072"/>
            <a:ext cx="658368" cy="6583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1837943"/>
            <a:ext cx="6583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487168"/>
            <a:ext cx="11155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9F1C"/>
                </a:solidFill>
                <a:latin typeface="Microsoft YaHei"/>
              </a:defRPr>
            </a:pPr>
            <a:r>
              <a:t>Grasp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09560" y="2048256"/>
            <a:ext cx="1280160" cy="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418320" y="1719072"/>
            <a:ext cx="658368" cy="6583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837943"/>
            <a:ext cx="6583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87168"/>
            <a:ext cx="11155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EF476F"/>
                </a:solidFill>
                <a:latin typeface="Microsoft YaHei"/>
              </a:defRPr>
            </a:pPr>
            <a:r>
              <a:t>Lift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2971800"/>
            <a:ext cx="1051560" cy="320040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F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980944"/>
            <a:ext cx="10515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EF476F"/>
                </a:solidFill>
                <a:latin typeface="Microsoft YaHei"/>
              </a:defRPr>
            </a:pPr>
            <a:r>
              <a:t>本周只干预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953512"/>
            <a:ext cx="4160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Aptos"/>
              </a:defRPr>
            </a:pPr>
            <a:r>
              <a:t>Start variance × Approach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2224" y="317296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52627A"/>
                </a:solidFill>
                <a:latin typeface="Microsoft YaHei"/>
              </a:defRPr>
            </a:pPr>
            <a:r>
              <a:t>App 3.6 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317296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52627A"/>
                </a:solidFill>
                <a:latin typeface="Microsoft YaHei"/>
              </a:defRPr>
            </a:pPr>
            <a:r>
              <a:t>App 6 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317296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52627A"/>
                </a:solidFill>
                <a:latin typeface="Microsoft YaHei"/>
              </a:defRPr>
            </a:pPr>
            <a:r>
              <a:t>App 8.4 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3776472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100" b="1">
                <a:solidFill>
                  <a:srgbClr val="52627A"/>
                </a:solidFill>
                <a:latin typeface="Microsoft YaHei"/>
              </a:defRPr>
            </a:pPr>
            <a:r>
              <a:t>Start 15 cm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47088" y="3584448"/>
            <a:ext cx="1371600" cy="585216"/>
          </a:xfrm>
          <a:prstGeom prst="rect">
            <a:avLst/>
          </a:prstGeom>
          <a:solidFill>
            <a:srgbClr val="DDF3F1"/>
          </a:solidFill>
          <a:ln w="1905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65376" y="3657600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584448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3657600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36592" y="3584448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657600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43484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100" b="1">
                <a:solidFill>
                  <a:srgbClr val="52627A"/>
                </a:solidFill>
                <a:latin typeface="Microsoft YaHei"/>
              </a:defRPr>
            </a:pPr>
            <a:r>
              <a:t>Start 25 cm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47088" y="4242816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65376" y="4315968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4242816"/>
            <a:ext cx="1371600" cy="585216"/>
          </a:xfrm>
          <a:prstGeom prst="rect">
            <a:avLst/>
          </a:prstGeom>
          <a:solidFill>
            <a:srgbClr val="DDF3F1"/>
          </a:solidFill>
          <a:ln w="1905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10128" y="4315968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36592" y="4242816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4315968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5093207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100" b="1">
                <a:solidFill>
                  <a:srgbClr val="52627A"/>
                </a:solidFill>
                <a:latin typeface="Microsoft YaHei"/>
              </a:defRPr>
            </a:pPr>
            <a:r>
              <a:t>Start 35 cm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7088" y="4901183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65376" y="4974336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901183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0128" y="4974336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36592" y="4901183"/>
            <a:ext cx="13716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4974336"/>
            <a:ext cx="133502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7233C"/>
                </a:solidFill>
                <a:latin typeface="Microsoft YaHei"/>
              </a:defRPr>
            </a:pPr>
            <a:r>
              <a:t>5 policies</a:t>
            </a:r>
            <a:br/>
            <a:r>
              <a:t>× 30 demos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67728" y="3346704"/>
            <a:ext cx="2011680" cy="1947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67728" y="3346704"/>
            <a:ext cx="73152" cy="19476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6328" y="3520440"/>
            <a:ext cx="1645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3A86FF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8" y="4005072"/>
            <a:ext cx="1645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independent policies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17152" y="3346704"/>
            <a:ext cx="2011680" cy="1947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17152" y="3346704"/>
            <a:ext cx="73152" cy="1947672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45752" y="3520440"/>
            <a:ext cx="1645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B8F8A"/>
                </a:solidFill>
                <a:latin typeface="Microsoft YaHei"/>
              </a:defRPr>
            </a:pPr>
            <a:r>
              <a:t>22,500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45752" y="4005072"/>
            <a:ext cx="1645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validated rollout rows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04304" y="5541264"/>
            <a:ext cx="41879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52627A"/>
                </a:solidFill>
                <a:latin typeface="Microsoft YaHei"/>
              </a:defRPr>
            </a:pPr>
            <a:r>
              <a:t>固定 learner、N=30、early stopping、checkpoint freeze；所有 policy 共享 deployment states 与 RNG。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6254496"/>
            <a:ext cx="4983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750" b="0">
                <a:solidFill>
                  <a:srgbClr val="7A879B"/>
                </a:solidFill>
                <a:latin typeface="Microsoft YaHei"/>
              </a:defRPr>
            </a:pPr>
            <a:r>
              <a:t>Source: frozen Stage 2c composition protocol &amp; 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两套 deployment surface：不要把 ID 与 OOD 混成一个分数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737360"/>
            <a:ext cx="5230368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1993392"/>
            <a:ext cx="969264" cy="32004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E2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02536"/>
            <a:ext cx="96926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86FF"/>
                </a:solidFill>
                <a:latin typeface="Microsoft YaHei"/>
              </a:defRPr>
            </a:pPr>
            <a:r>
              <a:t>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42032"/>
            <a:ext cx="4434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100" b="1">
                <a:solidFill>
                  <a:srgbClr val="17233C"/>
                </a:solidFill>
                <a:latin typeface="Microsoft YaHei"/>
              </a:defRPr>
            </a:pPr>
            <a:r>
              <a:t>Common-absolute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90088"/>
            <a:ext cx="44988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52627A"/>
                </a:solidFill>
                <a:latin typeface="Microsoft YaHei"/>
              </a:defRPr>
            </a:pPr>
            <a:r>
              <a:t>所有条件在同一组绝对 Start states 上比较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8136" y="3675887"/>
            <a:ext cx="4251960" cy="0"/>
          </a:xfrm>
          <a:prstGeom prst="line">
            <a:avLst/>
          </a:prstGeom>
          <a:ln w="508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43000" y="3493008"/>
            <a:ext cx="365760" cy="36576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98648" y="3493008"/>
            <a:ext cx="365760" cy="36576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55464" y="3493008"/>
            <a:ext cx="365760" cy="36576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005072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3A86FF"/>
                </a:solidFill>
                <a:latin typeface="Microsoft YaHei"/>
              </a:defRPr>
            </a:pPr>
            <a:r>
              <a:t>Inner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4005072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52627A"/>
                </a:solidFill>
                <a:latin typeface="Microsoft YaHei"/>
              </a:defRPr>
            </a:pPr>
            <a:r>
              <a:t>same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7680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3A86FF"/>
                </a:solidFill>
                <a:latin typeface="Microsoft YaHei"/>
              </a:defRPr>
            </a:pPr>
            <a:r>
              <a:t>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791456"/>
            <a:ext cx="4535424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3A86FF"/>
                </a:solidFill>
                <a:latin typeface="Microsoft YaHei"/>
              </a:defRPr>
            </a:pPr>
            <a:r>
              <a:t>用于公平 condition ranking 与 interaction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1737360"/>
            <a:ext cx="5230368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47104" y="1993392"/>
            <a:ext cx="1060704" cy="320040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002536"/>
            <a:ext cx="106070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9F1C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542032"/>
            <a:ext cx="4434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100" b="1">
                <a:solidFill>
                  <a:srgbClr val="17233C"/>
                </a:solidFill>
                <a:latin typeface="Microsoft YaHei"/>
              </a:defRPr>
            </a:pPr>
            <a:r>
              <a:t>Condition-relative ID / 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990088"/>
            <a:ext cx="44988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52627A"/>
                </a:solidFill>
                <a:latin typeface="Microsoft YaHei"/>
              </a:defRPr>
            </a:pPr>
            <a:r>
              <a:t>每个 Start family 按自身训练 support 定义边界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65976" y="3675887"/>
            <a:ext cx="4251960" cy="0"/>
          </a:xfrm>
          <a:prstGeom prst="line">
            <a:avLst/>
          </a:prstGeom>
          <a:ln w="508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720840" y="3493008"/>
            <a:ext cx="365760" cy="365760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76488" y="3493008"/>
            <a:ext cx="365760" cy="3657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33304" y="3493008"/>
            <a:ext cx="365760" cy="3657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005072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B8F8A"/>
                </a:solidFill>
                <a:latin typeface="Microsoft YaHei"/>
              </a:defRPr>
            </a:pPr>
            <a:r>
              <a:t>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005072"/>
            <a:ext cx="14813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52627A"/>
                </a:solidFill>
                <a:latin typeface="Microsoft YaHei"/>
              </a:defRPr>
            </a:pPr>
            <a:r>
              <a:t>support 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4005072"/>
            <a:ext cx="7680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9F1C"/>
                </a:solidFill>
                <a:latin typeface="Microsoft YaHei"/>
              </a:defRPr>
            </a:pPr>
            <a:r>
              <a:t>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791456"/>
            <a:ext cx="4535424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FF9F1C"/>
                </a:solidFill>
                <a:latin typeface="Microsoft YaHei"/>
              </a:defRPr>
            </a:pPr>
            <a:r>
              <a:t>用于判断 learnability–robustness trade-off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26464" y="5989320"/>
            <a:ext cx="9363456" cy="292608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F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2768" y="5971032"/>
            <a:ext cx="90708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EF476F"/>
                </a:solidFill>
                <a:latin typeface="Microsoft YaHei"/>
              </a:defRPr>
            </a:pPr>
            <a:r>
              <a:t>注意：不同 Start family 的 condition-relative banks 不是同一绝对 deployment distribution。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RESULT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Position response surface 不是单调的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52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2627A"/>
                </a:solidFill>
                <a:latin typeface="Microsoft YaHei"/>
              </a:defRPr>
            </a:pPr>
            <a:r>
              <a:t>数字为 common-absolute combined deployment success。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07 / 14</a:t>
            </a:r>
          </a:p>
        </p:txBody>
      </p:sp>
      <p:pic>
        <p:nvPicPr>
          <p:cNvPr id="9" name="Picture 8" descr="position_respons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7632"/>
            <a:ext cx="6720840" cy="42483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79208" y="1755648"/>
            <a:ext cx="3931920" cy="1179576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79208" y="1755648"/>
            <a:ext cx="73152" cy="1179576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929384"/>
            <a:ext cx="35661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B8F8A"/>
                </a:solidFill>
                <a:latin typeface="Microsoft YaHei"/>
              </a:defRPr>
            </a:pPr>
            <a:r>
              <a:t>49.4%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414015"/>
            <a:ext cx="3566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最高 combined：Start 15 / Approach 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8" y="3127248"/>
            <a:ext cx="3931920" cy="1179576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E2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9208" y="3127248"/>
            <a:ext cx="73152" cy="1179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3300984"/>
            <a:ext cx="35661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3A86FF"/>
                </a:solidFill>
                <a:latin typeface="Microsoft YaHei"/>
              </a:defRPr>
            </a:pPr>
            <a:r>
              <a:t>49.0%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785615"/>
            <a:ext cx="3566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近似并列：Start 25 / Approach 6.0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4498848"/>
            <a:ext cx="3931920" cy="1197864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F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3" y="4690872"/>
            <a:ext cx="3383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EF476F"/>
                </a:solidFill>
                <a:latin typeface="Microsoft YaHei"/>
              </a:defRPr>
            </a:pPr>
            <a:r>
              <a:t>Approach 8.4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5065776"/>
            <a:ext cx="3337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17233C"/>
                </a:solidFill>
                <a:latin typeface="Microsoft YaHei"/>
              </a:defRPr>
            </a:pPr>
            <a:r>
              <a:t>在 Start 15 / 25 / 35 三行均为最弱列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916168"/>
            <a:ext cx="41513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50" b="1">
                <a:solidFill>
                  <a:srgbClr val="086C68"/>
                </a:solidFill>
                <a:latin typeface="Microsoft YaHei"/>
              </a:defRPr>
            </a:pPr>
            <a:r>
              <a:t>结论：不能沿一个“variance 越大越 robust”的单调假设设计 guidance。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254496"/>
            <a:ext cx="4983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750" b="0">
                <a:solidFill>
                  <a:srgbClr val="7A879B"/>
                </a:solidFill>
                <a:latin typeface="Microsoft YaHei"/>
              </a:defRPr>
            </a:pPr>
            <a:r>
              <a:t>Source: Stage 2c common-absolute 3×3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RESULT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出现两个互补的 Pareto sweet 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52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2627A"/>
                </a:solidFill>
                <a:latin typeface="Microsoft YaHei"/>
              </a:defRPr>
            </a:pPr>
            <a:r>
              <a:t>右上越好；红圈是九个设置中不被同时支配的解。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08 / 14</a:t>
            </a:r>
          </a:p>
        </p:txBody>
      </p:sp>
      <p:pic>
        <p:nvPicPr>
          <p:cNvPr id="9" name="Picture 8" descr="position_id_ood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91056"/>
            <a:ext cx="6812280" cy="43523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97496" y="1764792"/>
            <a:ext cx="3858768" cy="1481328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44383" y="1956816"/>
            <a:ext cx="1426464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44383" y="1965960"/>
            <a:ext cx="142646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0B8F8A"/>
                </a:solidFill>
                <a:latin typeface="Microsoft YaHei"/>
              </a:defRPr>
            </a:pPr>
            <a:r>
              <a:t>ID / LEARNABILITY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3" y="2432304"/>
            <a:ext cx="3246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086C68"/>
                </a:solidFill>
                <a:latin typeface="Microsoft YaHei"/>
              </a:defRPr>
            </a:pPr>
            <a:r>
              <a:t>Start 15 / Approach 3.6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3" y="2788920"/>
            <a:ext cx="325526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ID 75.8%  ·  OOD 26.9%  ·  Combined 49.4%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3474720"/>
            <a:ext cx="3858768" cy="1481328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44383" y="3666744"/>
            <a:ext cx="138988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3" y="3675887"/>
            <a:ext cx="1389888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FF9F1C"/>
                </a:solidFill>
                <a:latin typeface="Microsoft YaHei"/>
              </a:defRPr>
            </a:pPr>
            <a:r>
              <a:t>OOD /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3" y="4142232"/>
            <a:ext cx="3246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A35E12"/>
                </a:solidFill>
                <a:latin typeface="Microsoft YaHei"/>
              </a:defRPr>
            </a:pPr>
            <a:r>
              <a:t>Start 25 / Approach 6.0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4498848"/>
            <a:ext cx="325526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ID 47.8%  ·  OOD 36.0%  ·  Combined 49.0%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5230368"/>
            <a:ext cx="3858768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404104"/>
            <a:ext cx="34015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80" b="0">
                <a:solidFill>
                  <a:srgbClr val="52627A"/>
                </a:solidFill>
                <a:latin typeface="Microsoft YaHei"/>
              </a:defRPr>
            </a:pPr>
            <a:r>
              <a:t>Start 35 / Approach 6.0 虽然 ID≈OOD，</a:t>
            </a:r>
            <a:br/>
            <a:r>
              <a:t>但绝对性能较低；“gap 小”不等于“好”。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254496"/>
            <a:ext cx="4983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750" b="0">
                <a:solidFill>
                  <a:srgbClr val="7A879B"/>
                </a:solidFill>
                <a:latin typeface="Microsoft YaHei"/>
              </a:defRPr>
            </a:pPr>
            <a:r>
              <a:t>Source: Stage 2c condition-relative RMAX40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本周 spatial evidence 支持什么？不支持什么？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83080"/>
            <a:ext cx="5074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CB67D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176272"/>
            <a:ext cx="5321808" cy="3557016"/>
          </a:xfrm>
          <a:prstGeom prst="roundRect">
            <a:avLst/>
          </a:prstGeom>
          <a:solidFill>
            <a:srgbClr val="DDF5EA"/>
          </a:solidFill>
          <a:ln w="12700">
            <a:solidFill>
              <a:srgbClr val="DD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587752"/>
            <a:ext cx="100584" cy="10058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487168"/>
            <a:ext cx="4462272" cy="810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17233C"/>
                </a:solidFill>
                <a:latin typeface="Microsoft YaHei"/>
              </a:defRPr>
            </a:pPr>
            <a:r>
              <a:t>Start × Approach 存在 interaction：同一个 variance 的作用依赖 trajectory stage 组合。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544824"/>
            <a:ext cx="100584" cy="10058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44240"/>
            <a:ext cx="4462272" cy="810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17233C"/>
                </a:solidFill>
                <a:latin typeface="Microsoft YaHei"/>
              </a:defRPr>
            </a:pPr>
            <a:r>
              <a:t>近抓取阶段过宽（8.4 cm）在测试网格中持续不利。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501896"/>
            <a:ext cx="100584" cy="10058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401312"/>
            <a:ext cx="4462272" cy="810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17233C"/>
                </a:solidFill>
                <a:latin typeface="Microsoft YaHei"/>
              </a:defRPr>
            </a:pPr>
            <a:r>
              <a:t>最佳 guidance 取决于目标：ID learnability 与 OOD robustness 对应不同 sweet spot。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783080"/>
            <a:ext cx="4956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EF476F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176272"/>
            <a:ext cx="5230368" cy="3557016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F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47104" y="2587752"/>
            <a:ext cx="100584" cy="10058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75704" y="2487168"/>
            <a:ext cx="4361688" cy="810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17233C"/>
                </a:solidFill>
                <a:latin typeface="Microsoft YaHei"/>
              </a:defRPr>
            </a:pPr>
            <a:r>
              <a:t>不是连续空间中的全局最优，也不是唯一精确半径。</a:t>
            </a:r>
          </a:p>
        </p:txBody>
      </p:sp>
      <p:sp>
        <p:nvSpPr>
          <p:cNvPr id="20" name="Oval 19"/>
          <p:cNvSpPr/>
          <p:nvPr/>
        </p:nvSpPr>
        <p:spPr>
          <a:xfrm>
            <a:off x="6547104" y="3544824"/>
            <a:ext cx="100584" cy="10058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4" y="3444240"/>
            <a:ext cx="4361688" cy="810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17233C"/>
                </a:solidFill>
                <a:latin typeface="Microsoft YaHei"/>
              </a:defRPr>
            </a:pPr>
            <a:r>
              <a:t>目前仅是一个 grasping task、Position、固定 DP learner 与 N=30。</a:t>
            </a:r>
          </a:p>
        </p:txBody>
      </p:sp>
      <p:sp>
        <p:nvSpPr>
          <p:cNvPr id="22" name="Oval 21"/>
          <p:cNvSpPr/>
          <p:nvPr/>
        </p:nvSpPr>
        <p:spPr>
          <a:xfrm>
            <a:off x="6547104" y="4501896"/>
            <a:ext cx="100584" cy="10058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4401312"/>
            <a:ext cx="4361688" cy="810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17233C"/>
                </a:solidFill>
                <a:latin typeface="Microsoft YaHei"/>
              </a:defRPr>
            </a:pPr>
            <a:r>
              <a:t>还没有证明跨任务迁移、真实人类可实现性或 human teaching transfer。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90472" y="5980176"/>
            <a:ext cx="9235440" cy="329184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980176"/>
            <a:ext cx="892454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170" b="1">
                <a:solidFill>
                  <a:srgbClr val="FFFFFF"/>
                </a:solidFill>
                <a:latin typeface="Microsoft YaHei"/>
              </a:defRPr>
            </a:pPr>
            <a:r>
              <a:t>当前最强 claim：固定 learner 与 30-demo budget 下，Position variance 的 deployment effect 是 stage-conditioned。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9EEAE4"/>
                </a:solidFill>
                <a:latin typeface="Microsoft YaHei"/>
              </a:defRPr>
            </a:pPr>
            <a:r>
              <a:t>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如何把 spatial evidence 变成 Guidance Generator？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52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A"/>
                </a:solidFill>
                <a:latin typeface="Microsoft YaHei"/>
              </a:defRPr>
            </a:pPr>
            <a:r>
              <a:t>第一版采用可解释的 forward compatibility model，而不是小数据黑盒 inverse generator。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1F36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AFC3D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AFC3DA"/>
                </a:solidFill>
                <a:latin typeface="Microsoft YaHei"/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359152" cy="2980944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938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①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2670048"/>
            <a:ext cx="1755648" cy="0"/>
          </a:xfrm>
          <a:prstGeom prst="line">
            <a:avLst/>
          </a:prstGeom>
          <a:ln w="10160">
            <a:solidFill>
              <a:srgbClr val="5F7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2944368"/>
            <a:ext cx="1847088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18000"/>
              </a:lnSpc>
              <a:defRPr sz="1400" b="0">
                <a:solidFill>
                  <a:srgbClr val="D3DFEC"/>
                </a:solidFill>
                <a:latin typeface="Microsoft YaHei"/>
              </a:defRPr>
            </a:pPr>
            <a:r>
              <a:t>task geometry</a:t>
            </a:r>
            <a:br/>
            <a:r>
              <a:t>scripted stage</a:t>
            </a:r>
            <a:br/>
            <a:r>
              <a:t>learner + N</a:t>
            </a:r>
            <a:br/>
            <a:r>
              <a:t>ID/OOD target</a:t>
            </a:r>
          </a:p>
        </p:txBody>
      </p:sp>
      <p:sp>
        <p:nvSpPr>
          <p:cNvPr id="13" name="Chevron 12"/>
          <p:cNvSpPr/>
          <p:nvPr/>
        </p:nvSpPr>
        <p:spPr>
          <a:xfrm>
            <a:off x="3145536" y="3090672"/>
            <a:ext cx="283464" cy="566928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1296" y="1874519"/>
            <a:ext cx="2359152" cy="2980944"/>
          </a:xfrm>
          <a:prstGeom prst="roundRect">
            <a:avLst/>
          </a:prstGeom>
          <a:solidFill>
            <a:srgbClr val="0E746F"/>
          </a:solidFill>
          <a:ln w="12700"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148840"/>
            <a:ext cx="1938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② Forward 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3048" y="2670048"/>
            <a:ext cx="1755648" cy="0"/>
          </a:xfrm>
          <a:prstGeom prst="line">
            <a:avLst/>
          </a:prstGeom>
          <a:ln w="10160">
            <a:solidFill>
              <a:srgbClr val="5F7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67328" y="2944368"/>
            <a:ext cx="1847088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18000"/>
              </a:lnSpc>
              <a:defRPr sz="1400" b="0">
                <a:solidFill>
                  <a:srgbClr val="D3DFEC"/>
                </a:solidFill>
                <a:latin typeface="Microsoft YaHei"/>
              </a:defRPr>
            </a:pPr>
            <a:r>
              <a:t>predict p(ID)</a:t>
            </a:r>
            <a:br/>
            <a:r>
              <a:t>predict p(OOD)</a:t>
            </a:r>
            <a:br/>
            <a:r>
              <a:t>uncertainty</a:t>
            </a:r>
            <a:br/>
            <a:r>
              <a:t>interaction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5998464" y="3090672"/>
            <a:ext cx="283464" cy="566928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1874519"/>
            <a:ext cx="2359152" cy="2980944"/>
          </a:xfrm>
          <a:prstGeom prst="roundRect">
            <a:avLst/>
          </a:prstGeom>
          <a:solidFill>
            <a:srgbClr val="5E3710"/>
          </a:solidFill>
          <a:ln w="12700">
            <a:solidFill>
              <a:srgbClr val="5E3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2148840"/>
            <a:ext cx="1938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③ Pareto selector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65976" y="2670048"/>
            <a:ext cx="1755648" cy="0"/>
          </a:xfrm>
          <a:prstGeom prst="line">
            <a:avLst/>
          </a:prstGeom>
          <a:ln w="10160">
            <a:solidFill>
              <a:srgbClr val="5F7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20256" y="2944368"/>
            <a:ext cx="1847088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18000"/>
              </a:lnSpc>
              <a:defRPr sz="1400" b="0">
                <a:solidFill>
                  <a:srgbClr val="D3DFEC"/>
                </a:solidFill>
                <a:latin typeface="Microsoft YaHei"/>
              </a:defRPr>
            </a:pPr>
            <a:r>
              <a:t>success constraints</a:t>
            </a:r>
            <a:br/>
            <a:r>
              <a:t>risk preference</a:t>
            </a:r>
            <a:br/>
            <a:r>
              <a:t>human burden</a:t>
            </a:r>
            <a:br/>
            <a:r>
              <a:t>confidence</a:t>
            </a:r>
          </a:p>
        </p:txBody>
      </p:sp>
      <p:sp>
        <p:nvSpPr>
          <p:cNvPr id="23" name="Chevron 22"/>
          <p:cNvSpPr/>
          <p:nvPr/>
        </p:nvSpPr>
        <p:spPr>
          <a:xfrm>
            <a:off x="8851392" y="3090672"/>
            <a:ext cx="283464" cy="566928"/>
          </a:xfrm>
          <a:prstGeom prst="chevron">
            <a:avLst/>
          </a:prstGeom>
          <a:solidFill>
            <a:srgbClr val="39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17152" y="1874519"/>
            <a:ext cx="2359152" cy="2980944"/>
          </a:xfrm>
          <a:prstGeom prst="roundRect">
            <a:avLst/>
          </a:prstGeom>
          <a:solidFill>
            <a:srgbClr val="54315D"/>
          </a:solidFill>
          <a:ln w="12700">
            <a:solidFill>
              <a:srgbClr val="543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2148840"/>
            <a:ext cx="1938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④ Guidance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18904" y="2670048"/>
            <a:ext cx="1755648" cy="0"/>
          </a:xfrm>
          <a:prstGeom prst="line">
            <a:avLst/>
          </a:prstGeom>
          <a:ln w="10160">
            <a:solidFill>
              <a:srgbClr val="5F7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73184" y="2944368"/>
            <a:ext cx="1847088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18000"/>
              </a:lnSpc>
              <a:defRPr sz="1400" b="0">
                <a:solidFill>
                  <a:srgbClr val="D3DFEC"/>
                </a:solidFill>
                <a:latin typeface="Microsoft YaHei"/>
              </a:defRPr>
            </a:pPr>
            <a:r>
              <a:t>corridor width</a:t>
            </a:r>
            <a:br/>
            <a:r>
              <a:t>orientation tol.</a:t>
            </a:r>
            <a:br/>
            <a:r>
              <a:t>speed window</a:t>
            </a:r>
            <a:br/>
            <a:r>
              <a:t>phase schedule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" y="5248656"/>
            <a:ext cx="10222992" cy="786384"/>
          </a:xfrm>
          <a:prstGeom prst="roundRect">
            <a:avLst/>
          </a:prstGeom>
          <a:solidFill>
            <a:srgbClr val="0D2138"/>
          </a:solidFill>
          <a:ln w="12700">
            <a:solidFill>
              <a:srgbClr val="1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2728" y="5422392"/>
            <a:ext cx="9692640" cy="429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50" b="1">
                <a:solidFill>
                  <a:srgbClr val="C8D7E8"/>
                </a:solidFill>
                <a:latin typeface="Microsoft YaHei"/>
              </a:defRPr>
            </a:pPr>
            <a:r>
              <a:t>为什么 forward model？同样的 success 可能对应多个 variance schedules；先预测结果，再选满足约束且对人最宽松的方案。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Generator 学什么数据？如何选择 guidance？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632704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93392"/>
            <a:ext cx="506577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Microsoft YaHei"/>
              </a:defRPr>
            </a:pPr>
            <a:r>
              <a:t>Compatibility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" y="2606040"/>
            <a:ext cx="2331720" cy="5486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724912"/>
            <a:ext cx="216712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C68"/>
                </a:solidFill>
                <a:latin typeface="Microsoft YaHei"/>
              </a:defRPr>
            </a:pPr>
            <a:r>
              <a:t>task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2606040"/>
            <a:ext cx="2331720" cy="54864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E2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724912"/>
            <a:ext cx="216712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3A86FF"/>
                </a:solidFill>
                <a:latin typeface="Microsoft YaHei"/>
              </a:defRPr>
            </a:pPr>
            <a:r>
              <a:t>stage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364992"/>
            <a:ext cx="2331720" cy="548640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483864"/>
            <a:ext cx="216712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A35E12"/>
                </a:solidFill>
                <a:latin typeface="Microsoft YaHei"/>
              </a:defRPr>
            </a:pPr>
            <a:r>
              <a:t>variation type + magnitude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3364992"/>
            <a:ext cx="2331720" cy="548640"/>
          </a:xfrm>
          <a:prstGeom prst="roundRect">
            <a:avLst/>
          </a:prstGeom>
          <a:solidFill>
            <a:srgbClr val="E9E7FF"/>
          </a:solidFill>
          <a:ln w="12700">
            <a:solidFill>
              <a:srgbClr val="E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3483864"/>
            <a:ext cx="216712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5548A5"/>
                </a:solidFill>
                <a:latin typeface="Microsoft YaHei"/>
              </a:defRPr>
            </a:pPr>
            <a:r>
              <a:t>learner + data budget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4123944"/>
            <a:ext cx="2331720" cy="548640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F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242816"/>
            <a:ext cx="216712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EF476F"/>
                </a:solidFill>
                <a:latin typeface="Microsoft YaHei"/>
              </a:defRPr>
            </a:pPr>
            <a:r>
              <a:t>deployment distribution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728" y="4123944"/>
            <a:ext cx="2331720" cy="548640"/>
          </a:xfrm>
          <a:prstGeom prst="roundRect">
            <a:avLst/>
          </a:prstGeom>
          <a:solidFill>
            <a:srgbClr val="DDF5EA"/>
          </a:solidFill>
          <a:ln w="12700">
            <a:solidFill>
              <a:srgbClr val="DD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4242816"/>
            <a:ext cx="216712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CB67D"/>
                </a:solidFill>
                <a:latin typeface="Microsoft YaHei"/>
              </a:defRPr>
            </a:pPr>
            <a:r>
              <a:t>successes / trials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102352"/>
            <a:ext cx="507492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0">
                <a:solidFill>
                  <a:srgbClr val="52627A"/>
                </a:solidFill>
                <a:latin typeface="Microsoft YaHei"/>
              </a:defRPr>
            </a:pPr>
            <a:r>
              <a:t>第一版模型：regularised binomial / additive model / shallow tree</a:t>
            </a:r>
            <a:br/>
            <a:r>
              <a:t>→ 小数据、可解释、可输出 uncertainty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1737360"/>
            <a:ext cx="4937760" cy="4315968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1993392"/>
            <a:ext cx="1993392" cy="320040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002536"/>
            <a:ext cx="199339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9EEAE4"/>
                </a:solidFill>
                <a:latin typeface="Microsoft YaHei"/>
              </a:defRPr>
            </a:pPr>
            <a:r>
              <a:t>MULTI-OBJECTIVE SELECTOR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2688336"/>
            <a:ext cx="4343400" cy="9875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2300" b="1">
                <a:solidFill>
                  <a:srgbClr val="FFFFFF"/>
                </a:solidFill>
                <a:latin typeface="Aptos"/>
              </a:defRPr>
            </a:pPr>
            <a:r>
              <a:t>max  λ · pID + (1−λ) · pOOD</a:t>
            </a:r>
            <a:br/>
            <a:r>
              <a:t>− β · guidance burden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941063"/>
            <a:ext cx="3959352" cy="0"/>
          </a:xfrm>
          <a:prstGeom prst="line">
            <a:avLst/>
          </a:prstGeom>
          <a:ln w="12700">
            <a:solidFill>
              <a:srgbClr val="395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0" y="4206240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AFC3DA"/>
                </a:solidFill>
                <a:latin typeface="Aptos"/>
              </a:defRPr>
            </a:pPr>
            <a:r>
              <a:t>subject to</a:t>
            </a:r>
          </a:p>
        </p:txBody>
      </p:sp>
      <p:sp>
        <p:nvSpPr>
          <p:cNvPr id="29" name="Oval 28"/>
          <p:cNvSpPr/>
          <p:nvPr/>
        </p:nvSpPr>
        <p:spPr>
          <a:xfrm>
            <a:off x="6922008" y="4636008"/>
            <a:ext cx="100584" cy="1005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4535424"/>
            <a:ext cx="3758184" cy="304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250" b="0">
                <a:solidFill>
                  <a:srgbClr val="D3DFEC"/>
                </a:solidFill>
                <a:latin typeface="Microsoft YaHei"/>
              </a:defRPr>
            </a:pPr>
            <a:r>
              <a:t>pID ≥ learnability threshold</a:t>
            </a:r>
          </a:p>
        </p:txBody>
      </p:sp>
      <p:sp>
        <p:nvSpPr>
          <p:cNvPr id="31" name="Oval 30"/>
          <p:cNvSpPr/>
          <p:nvPr/>
        </p:nvSpPr>
        <p:spPr>
          <a:xfrm>
            <a:off x="6922008" y="4986528"/>
            <a:ext cx="100584" cy="1005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4885944"/>
            <a:ext cx="3758184" cy="304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250" b="0">
                <a:solidFill>
                  <a:srgbClr val="D3DFEC"/>
                </a:solidFill>
                <a:latin typeface="Microsoft YaHei"/>
              </a:defRPr>
            </a:pPr>
            <a:r>
              <a:t>pOOD ≥ robustness threshold</a:t>
            </a:r>
          </a:p>
        </p:txBody>
      </p:sp>
      <p:sp>
        <p:nvSpPr>
          <p:cNvPr id="33" name="Oval 32"/>
          <p:cNvSpPr/>
          <p:nvPr/>
        </p:nvSpPr>
        <p:spPr>
          <a:xfrm>
            <a:off x="6922008" y="5337048"/>
            <a:ext cx="100584" cy="1005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8" y="5236464"/>
            <a:ext cx="3758184" cy="304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defRPr sz="1250" b="0">
                <a:solidFill>
                  <a:srgbClr val="D3DFEC"/>
                </a:solidFill>
                <a:latin typeface="Microsoft YaHei"/>
              </a:defRPr>
            </a:pPr>
            <a:r>
              <a:t>uncertainty ≤ confidence limit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5650992"/>
            <a:ext cx="4297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70" b="1">
                <a:solidFill>
                  <a:srgbClr val="FFD59A"/>
                </a:solidFill>
                <a:latin typeface="Microsoft YaHei"/>
              </a:defRPr>
            </a:pPr>
            <a:r>
              <a:t>更稳妥的产品输出是 Pareto set + 推荐理由，而不是伪精确的单点。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一步步做：从单任务 evidence 到可验证的 guidance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12 / 14</a:t>
            </a:r>
          </a:p>
        </p:txBody>
      </p:sp>
      <p:sp>
        <p:nvSpPr>
          <p:cNvPr id="8" name="Oval 7"/>
          <p:cNvSpPr/>
          <p:nvPr/>
        </p:nvSpPr>
        <p:spPr>
          <a:xfrm>
            <a:off x="795528" y="1874519"/>
            <a:ext cx="438912" cy="438912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29384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14984" y="2313432"/>
            <a:ext cx="0" cy="27432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53896" y="1892807"/>
            <a:ext cx="2926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50" b="1">
                <a:solidFill>
                  <a:srgbClr val="17233C"/>
                </a:solidFill>
                <a:latin typeface="Microsoft YaHei"/>
              </a:defRPr>
            </a:pPr>
            <a:r>
              <a:t>Spatial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901951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627A"/>
                </a:solidFill>
                <a:latin typeface="Microsoft YaHei"/>
              </a:defRPr>
            </a:pPr>
            <a:r>
              <a:t>当前完成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2569463"/>
            <a:ext cx="438912" cy="43891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24327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4984" y="3008375"/>
            <a:ext cx="0" cy="274321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53896" y="2587751"/>
            <a:ext cx="2926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50" b="1">
                <a:solidFill>
                  <a:srgbClr val="17233C"/>
                </a:solidFill>
                <a:latin typeface="Aptos"/>
              </a:defRPr>
            </a:pPr>
            <a:r>
              <a:t>Multi-task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596895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627A"/>
                </a:solidFill>
                <a:latin typeface="Microsoft YaHei"/>
              </a:defRPr>
            </a:pPr>
            <a:r>
              <a:t>scripted phases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" y="3264408"/>
            <a:ext cx="438912" cy="43891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319272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4984" y="3703320"/>
            <a:ext cx="0" cy="274319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53896" y="3282696"/>
            <a:ext cx="2926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50" b="1">
                <a:solidFill>
                  <a:srgbClr val="17233C"/>
                </a:solidFill>
                <a:latin typeface="Aptos"/>
              </a:defRPr>
            </a:pPr>
            <a:r>
              <a:t>Add Rotation / Velocity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3291839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627A"/>
                </a:solidFill>
                <a:latin typeface="Microsoft YaHei"/>
              </a:defRPr>
            </a:pPr>
            <a:r>
              <a:t>逐轴扩展</a:t>
            </a:r>
          </a:p>
        </p:txBody>
      </p:sp>
      <p:sp>
        <p:nvSpPr>
          <p:cNvPr id="23" name="Oval 22"/>
          <p:cNvSpPr/>
          <p:nvPr/>
        </p:nvSpPr>
        <p:spPr>
          <a:xfrm>
            <a:off x="795528" y="3959352"/>
            <a:ext cx="438912" cy="438912"/>
          </a:xfrm>
          <a:prstGeom prst="ellipse">
            <a:avLst/>
          </a:prstGeom>
          <a:solidFill>
            <a:srgbClr val="5548A5"/>
          </a:solidFill>
          <a:ln w="12700">
            <a:solidFill>
              <a:srgbClr val="554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014215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4984" y="4398264"/>
            <a:ext cx="0" cy="27432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53896" y="3977639"/>
            <a:ext cx="2926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50" b="1">
                <a:solidFill>
                  <a:srgbClr val="17233C"/>
                </a:solidFill>
                <a:latin typeface="Aptos"/>
              </a:defRPr>
            </a:pPr>
            <a:r>
              <a:t>Compatibility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3986784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627A"/>
                </a:solidFill>
                <a:latin typeface="Microsoft YaHei"/>
              </a:defRPr>
            </a:pPr>
            <a:r>
              <a:t>learn forward map</a:t>
            </a:r>
          </a:p>
        </p:txBody>
      </p:sp>
      <p:sp>
        <p:nvSpPr>
          <p:cNvPr id="28" name="Oval 27"/>
          <p:cNvSpPr/>
          <p:nvPr/>
        </p:nvSpPr>
        <p:spPr>
          <a:xfrm>
            <a:off x="795528" y="4654296"/>
            <a:ext cx="438912" cy="43891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709159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4984" y="5093208"/>
            <a:ext cx="0" cy="274320"/>
          </a:xfrm>
          <a:prstGeom prst="line">
            <a:avLst/>
          </a:prstGeom>
          <a:ln w="2540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53896" y="4672583"/>
            <a:ext cx="2926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50" b="1">
                <a:solidFill>
                  <a:srgbClr val="17233C"/>
                </a:solidFill>
                <a:latin typeface="Aptos"/>
              </a:defRPr>
            </a:pPr>
            <a:r>
              <a:t>Held-out Task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4681728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627A"/>
                </a:solidFill>
                <a:latin typeface="Microsoft YaHei"/>
              </a:defRPr>
            </a:pPr>
            <a:r>
              <a:t>freeze → predict → validate</a:t>
            </a:r>
          </a:p>
        </p:txBody>
      </p:sp>
      <p:sp>
        <p:nvSpPr>
          <p:cNvPr id="33" name="Oval 32"/>
          <p:cNvSpPr/>
          <p:nvPr/>
        </p:nvSpPr>
        <p:spPr>
          <a:xfrm>
            <a:off x="795528" y="5349240"/>
            <a:ext cx="438912" cy="438912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404103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53896" y="5367527"/>
            <a:ext cx="2926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50" b="1">
                <a:solidFill>
                  <a:srgbClr val="17233C"/>
                </a:solidFill>
                <a:latin typeface="Aptos"/>
              </a:defRPr>
            </a:pPr>
            <a:r>
              <a:t>Human A → unseen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2" y="5376672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627A"/>
                </a:solidFill>
                <a:latin typeface="Microsoft YaHei"/>
              </a:defRPr>
            </a:pPr>
            <a:r>
              <a:t>realise / retain / transfer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37376" y="1819656"/>
            <a:ext cx="5001768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2093976"/>
            <a:ext cx="4389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7233C"/>
                </a:solidFill>
                <a:latin typeface="Microsoft YaHei"/>
              </a:defRPr>
            </a:pPr>
            <a:r>
              <a:t>每一步都要有独立的 stop / go gate</a:t>
            </a:r>
          </a:p>
        </p:txBody>
      </p:sp>
      <p:sp>
        <p:nvSpPr>
          <p:cNvPr id="39" name="Oval 38"/>
          <p:cNvSpPr/>
          <p:nvPr/>
        </p:nvSpPr>
        <p:spPr>
          <a:xfrm>
            <a:off x="6766560" y="2761488"/>
            <a:ext cx="182880" cy="182880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2724912"/>
            <a:ext cx="1627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Aptos"/>
              </a:defRPr>
            </a:pPr>
            <a:r>
              <a:t>Robot compatibility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9952" y="2724912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52627A"/>
                </a:solidFill>
                <a:latin typeface="Microsoft YaHei"/>
              </a:defRPr>
            </a:pPr>
            <a:r>
              <a:t>固定 learner / N；ID+OOD deployment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0" y="3346704"/>
            <a:ext cx="182880" cy="182880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4032" y="3310128"/>
            <a:ext cx="1627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Aptos"/>
              </a:defRPr>
            </a:pPr>
            <a:r>
              <a:t>Cross-task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2" y="3310128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52627A"/>
                </a:solidFill>
                <a:latin typeface="Microsoft YaHei"/>
              </a:defRPr>
            </a:pPr>
            <a:r>
              <a:t>held-out A 前冻结预测</a:t>
            </a:r>
          </a:p>
        </p:txBody>
      </p:sp>
      <p:sp>
        <p:nvSpPr>
          <p:cNvPr id="45" name="Oval 44"/>
          <p:cNvSpPr/>
          <p:nvPr/>
        </p:nvSpPr>
        <p:spPr>
          <a:xfrm>
            <a:off x="6766560" y="3931920"/>
            <a:ext cx="182880" cy="1828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4032" y="3895344"/>
            <a:ext cx="1627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Aptos"/>
              </a:defRPr>
            </a:pPr>
            <a:r>
              <a:t>Guidance realisation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9952" y="3895344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52627A"/>
                </a:solidFill>
                <a:latin typeface="Microsoft YaHei"/>
              </a:defRPr>
            </a:pPr>
            <a:r>
              <a:t>人是否真的产生目标 variance</a:t>
            </a:r>
          </a:p>
        </p:txBody>
      </p:sp>
      <p:sp>
        <p:nvSpPr>
          <p:cNvPr id="48" name="Oval 47"/>
          <p:cNvSpPr/>
          <p:nvPr/>
        </p:nvSpPr>
        <p:spPr>
          <a:xfrm>
            <a:off x="6766560" y="4517136"/>
            <a:ext cx="182880" cy="1828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14032" y="4480560"/>
            <a:ext cx="1627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Aptos"/>
              </a:defRPr>
            </a:pPr>
            <a:r>
              <a:t>Human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9952" y="4480560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52627A"/>
                </a:solidFill>
                <a:latin typeface="Microsoft YaHei"/>
              </a:defRPr>
            </a:pPr>
            <a:r>
              <a:t>撤除 guidance 后 retention</a:t>
            </a:r>
          </a:p>
        </p:txBody>
      </p:sp>
      <p:sp>
        <p:nvSpPr>
          <p:cNvPr id="51" name="Oval 50"/>
          <p:cNvSpPr/>
          <p:nvPr/>
        </p:nvSpPr>
        <p:spPr>
          <a:xfrm>
            <a:off x="6766560" y="5102352"/>
            <a:ext cx="182880" cy="1828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2" y="5065776"/>
            <a:ext cx="1627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Aptos"/>
              </a:defRPr>
            </a:pPr>
            <a:r>
              <a:t>Teaching transfer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9952" y="5065776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52627A"/>
                </a:solidFill>
                <a:latin typeface="Microsoft YaHei"/>
              </a:defRPr>
            </a:pPr>
            <a:r>
              <a:t>完全未见 Task B、无 guidance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7416" y="5568696"/>
            <a:ext cx="431596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EF476F"/>
                </a:solidFill>
                <a:latin typeface="Microsoft YaHei"/>
              </a:defRPr>
            </a:pPr>
            <a:r>
              <a:t>原则：一次只扩大一个 claim；不把 robot-side success 直接等同于 human teaching success。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下一阶段的最小可执行计划 + 明天需要老师拍板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46504"/>
            <a:ext cx="51389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86C68"/>
                </a:solidFill>
                <a:latin typeface="Microsoft YaHei"/>
              </a:defRPr>
            </a:pPr>
            <a:r>
              <a:t>建议下一阶段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221992"/>
            <a:ext cx="393192" cy="393192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67712"/>
            <a:ext cx="3931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21284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Microsoft YaHei"/>
              </a:defRPr>
            </a:pPr>
            <a:r>
              <a:t>选择 2–3 个 source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12848"/>
            <a:ext cx="21488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优先已有 scripted phases 的 grasp / insertion 类任务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3090672"/>
            <a:ext cx="393192" cy="393192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136391"/>
            <a:ext cx="3931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08152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Microsoft YaHei"/>
              </a:defRPr>
            </a:pPr>
            <a:r>
              <a:t>Position-only 紧凑验证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81528"/>
            <a:ext cx="21488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围绕已发现 sweet regions，不做无边界半径搜索</a:t>
            </a:r>
          </a:p>
        </p:txBody>
      </p:sp>
      <p:sp>
        <p:nvSpPr>
          <p:cNvPr id="17" name="Oval 16"/>
          <p:cNvSpPr/>
          <p:nvPr/>
        </p:nvSpPr>
        <p:spPr>
          <a:xfrm>
            <a:off x="795528" y="3959352"/>
            <a:ext cx="393192" cy="393192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005072"/>
            <a:ext cx="3931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95020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Microsoft YaHei"/>
              </a:defRPr>
            </a:pPr>
            <a:r>
              <a:t>冻结 common + ID/OOD banks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950208"/>
            <a:ext cx="21488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每条件 N=30、matched seeds、独立 policies</a:t>
            </a:r>
          </a:p>
        </p:txBody>
      </p:sp>
      <p:sp>
        <p:nvSpPr>
          <p:cNvPr id="21" name="Oval 20"/>
          <p:cNvSpPr/>
          <p:nvPr/>
        </p:nvSpPr>
        <p:spPr>
          <a:xfrm>
            <a:off x="795528" y="4828031"/>
            <a:ext cx="393192" cy="393192"/>
          </a:xfrm>
          <a:prstGeom prst="ellipse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873751"/>
            <a:ext cx="3931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81888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Microsoft YaHei"/>
              </a:defRPr>
            </a:pPr>
            <a:r>
              <a:t>建立 compatibility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18888"/>
            <a:ext cx="21488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先拟合低复杂度 forward model 与 uncertainty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746504"/>
            <a:ext cx="499262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EF476F"/>
                </a:solidFill>
                <a:latin typeface="Microsoft YaHei"/>
              </a:defRPr>
            </a:pPr>
            <a:r>
              <a:t>希望老师确认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9944" y="2221992"/>
            <a:ext cx="4818888" cy="896112"/>
          </a:xfrm>
          <a:prstGeom prst="roundRect">
            <a:avLst/>
          </a:prstGeom>
          <a:solidFill>
            <a:srgbClr val="FDE3E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2414016"/>
            <a:ext cx="475488" cy="38404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423160"/>
            <a:ext cx="47548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2386584"/>
            <a:ext cx="107899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2340864"/>
            <a:ext cx="2569464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先明确为 DP-specific guidance，还是一开始就追求 learner-agnostic？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3337560"/>
            <a:ext cx="481888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29400" y="3529584"/>
            <a:ext cx="475488" cy="38404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538728"/>
            <a:ext cx="47548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6056" y="3502152"/>
            <a:ext cx="107899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3456432"/>
            <a:ext cx="2569464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输出一个固定 λ 的 recommendation，还是输出 Pareto set 让任务方选择？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9944" y="4453128"/>
            <a:ext cx="481888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29400" y="4645152"/>
            <a:ext cx="475488" cy="38404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654296"/>
            <a:ext cx="47548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06056" y="4617720"/>
            <a:ext cx="107899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7233C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4572000"/>
            <a:ext cx="2569464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2627A"/>
                </a:solidFill>
                <a:latin typeface="Microsoft YaHei"/>
              </a:defRPr>
            </a:pPr>
            <a:r>
              <a:t>哪 2–3 个 source tasks 最有论文说服力，同时工程上可控？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9944" y="5577840"/>
            <a:ext cx="4818888" cy="493776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669280"/>
            <a:ext cx="4462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建议：先 DP-specific + Pareto output + scripted multi-task phases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14365A"/>
          </a:solidFill>
          <a:ln w="12700">
            <a:solidFill>
              <a:srgbClr val="14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9EEAE4"/>
                </a:solidFill>
                <a:latin typeface="Microsoft YaHei"/>
              </a:defRPr>
            </a:pPr>
            <a:r>
              <a:t>TAKE-HOME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今天希望带走的三句话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1F36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AFC3D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AFC3DA"/>
                </a:solidFill>
                <a:latin typeface="Microsoft YaHei"/>
              </a:defRPr>
            </a:pPr>
            <a:r>
              <a:t>14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37360"/>
            <a:ext cx="640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B8F8A"/>
                </a:solidFill>
                <a:latin typeface="Aptos"/>
              </a:defRPr>
            </a:pPr>
            <a: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72768" y="1810512"/>
            <a:ext cx="0" cy="758952"/>
          </a:xfrm>
          <a:prstGeom prst="line">
            <a:avLst/>
          </a:prstGeom>
          <a:ln w="12700">
            <a:solidFill>
              <a:srgbClr val="314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74519" y="1728216"/>
            <a:ext cx="4800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Variance 是 stage-conditioned control 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7128"/>
            <a:ext cx="793699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AFC3DA"/>
                </a:solidFill>
                <a:latin typeface="Microsoft YaHei"/>
              </a:defRPr>
            </a:pPr>
            <a:r>
              <a:t>不是需要被统一最小化或最大化的噪声。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81528"/>
            <a:ext cx="640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FF9F1C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3154680"/>
            <a:ext cx="0" cy="758952"/>
          </a:xfrm>
          <a:prstGeom prst="line">
            <a:avLst/>
          </a:prstGeom>
          <a:ln w="12700">
            <a:solidFill>
              <a:srgbClr val="314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74519" y="3072384"/>
            <a:ext cx="4800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30 条 demonstrations 也能暴露 Pareto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11296"/>
            <a:ext cx="793699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AFC3DA"/>
                </a:solidFill>
                <a:latin typeface="Microsoft YaHei"/>
              </a:defRPr>
            </a:pPr>
            <a:r>
              <a:t>15/3.6 偏 learnability；25/6.0 偏 robustness；8.4 cm near-grasp 明显不利。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25696"/>
            <a:ext cx="640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EF476F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72768" y="4498848"/>
            <a:ext cx="0" cy="758952"/>
          </a:xfrm>
          <a:prstGeom prst="line">
            <a:avLst/>
          </a:prstGeom>
          <a:ln w="12700">
            <a:solidFill>
              <a:srgbClr val="314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74519" y="4416552"/>
            <a:ext cx="4800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下一步不是继续调 grasping 半径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855464"/>
            <a:ext cx="793699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AFC3DA"/>
                </a:solidFill>
                <a:latin typeface="Microsoft YaHei"/>
              </a:defRPr>
            </a:pPr>
            <a:r>
              <a:t>而是跨任务学习 compatibility，冻结预测，再把它翻译成可实现的 human guidance。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17904" y="5907024"/>
            <a:ext cx="9162288" cy="393192"/>
          </a:xfrm>
          <a:prstGeom prst="roundRect">
            <a:avLst/>
          </a:prstGeom>
          <a:solidFill>
            <a:srgbClr val="0D2138"/>
          </a:solidFill>
          <a:ln w="12700">
            <a:solidFill>
              <a:srgbClr val="1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6504" y="5943600"/>
            <a:ext cx="87050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D59A"/>
                </a:solidFill>
                <a:latin typeface="Microsoft YaHei"/>
              </a:defRPr>
            </a:pPr>
            <a:r>
              <a:t>Discussion: 让 generator 输出一个 setting，还是输出可解释的 Pareto guidance menu？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完整 3 × 3 数值表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3429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7233C"/>
                </a:solidFill>
                <a:latin typeface="Aptos"/>
              </a:defRPr>
            </a:pPr>
            <a:r>
              <a:t>Common combined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A3.6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8296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A8.4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33472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0472" y="2496312"/>
            <a:ext cx="786384" cy="566928"/>
          </a:xfrm>
          <a:prstGeom prst="rect">
            <a:avLst/>
          </a:prstGeom>
          <a:solidFill>
            <a:srgbClr val="E2EE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0472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3A86FF"/>
                </a:solidFill>
                <a:latin typeface="Microsoft YaHei"/>
              </a:defRPr>
            </a:pPr>
            <a:r>
              <a:t>49.4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0008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0008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37.2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9544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28.4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37560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0472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0472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45.0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0008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49.0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9544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9544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24.1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041648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90472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0472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28.7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33.4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9544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9544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4754880"/>
            <a:ext cx="2514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7A879B"/>
                </a:solidFill>
                <a:latin typeface="Microsoft YaHei"/>
              </a:defRPr>
            </a:pPr>
            <a:r>
              <a:t>% 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1755648"/>
            <a:ext cx="3429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7233C"/>
                </a:solidFill>
                <a:latin typeface="Aptos"/>
              </a:defRPr>
            </a:pPr>
            <a:r>
              <a:t>Condition-relative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0951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A3.6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3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A8.4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59" y="2633472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12664" y="2496312"/>
            <a:ext cx="786384" cy="566928"/>
          </a:xfrm>
          <a:prstGeom prst="rect">
            <a:avLst/>
          </a:prstGeom>
          <a:solidFill>
            <a:srgbClr val="DDF3F1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12664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0B8F8A"/>
                </a:solidFill>
                <a:latin typeface="Microsoft YaHei"/>
              </a:defRPr>
            </a:pPr>
            <a:r>
              <a:t>75.8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57.8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31736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1736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41.8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3337560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12664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12664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47.8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47.8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31736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31736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27.4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4041648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S35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12664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12664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28.0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32.0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31736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31736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17.9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0096" y="4754880"/>
            <a:ext cx="2514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7A879B"/>
                </a:solidFill>
                <a:latin typeface="Microsoft YaHei"/>
              </a:defRPr>
            </a:pPr>
            <a:r>
              <a:t>% success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2752" y="1755648"/>
            <a:ext cx="3429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7233C"/>
                </a:solidFill>
                <a:latin typeface="Aptos"/>
              </a:defRPr>
            </a:pPr>
            <a:r>
              <a:t>Condition-relative OOD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3144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A3.6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72216" y="2240280"/>
            <a:ext cx="804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A8.4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02752" y="2633472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34856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856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26.9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94392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22.1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53928" y="2496312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53928" y="2642616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14.9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02752" y="3337560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34856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34856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31.7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94392" y="3200400"/>
            <a:ext cx="786384" cy="566928"/>
          </a:xfrm>
          <a:prstGeom prst="rect">
            <a:avLst/>
          </a:prstGeom>
          <a:solidFill>
            <a:srgbClr val="FFF0D8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94392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9F1C"/>
                </a:solidFill>
                <a:latin typeface="Microsoft YaHei"/>
              </a:defRPr>
            </a:pPr>
            <a:r>
              <a:t>36.0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53928" y="3200400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53928" y="3346704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17.8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02752" y="4041648"/>
            <a:ext cx="67665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52627A"/>
                </a:solidFill>
                <a:latin typeface="Microsoft YaHei"/>
              </a:defRPr>
            </a:pPr>
            <a:r>
              <a:t>S35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34856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34856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25.1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94392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94392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32.8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853928" y="3904487"/>
            <a:ext cx="786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853928" y="4050791"/>
            <a:ext cx="7863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7233C"/>
                </a:solidFill>
                <a:latin typeface="Microsoft YaHei"/>
              </a:defRPr>
            </a:pPr>
            <a:r>
              <a:t>16.3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62288" y="4754880"/>
            <a:ext cx="2514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7A879B"/>
                </a:solidFill>
                <a:latin typeface="Microsoft YaHei"/>
              </a:defRPr>
            </a:pPr>
            <a:r>
              <a:t>% success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9536" y="5358384"/>
            <a:ext cx="10497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9848" y="5532120"/>
            <a:ext cx="10094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Pareto front = Start15/App3.6 + Start25/App6.0.  Common-absolute 是主比较；condition-relative ID/OOD 是次级诊断。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6254496"/>
            <a:ext cx="4983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750" b="0">
                <a:solidFill>
                  <a:srgbClr val="7A879B"/>
                </a:solidFill>
                <a:latin typeface="Microsoft YaHei"/>
              </a:defRPr>
            </a:pPr>
            <a:r>
              <a:t>Values: experiments/tro_stage2_position_composition/analysis/summary.md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20040"/>
          </a:xfrm>
          <a:prstGeom prst="roundRect">
            <a:avLst/>
          </a:prstGeom>
          <a:solidFill>
            <a:srgbClr val="DDF3F1"/>
          </a:solidFill>
          <a:ln w="12700"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86C68"/>
                </a:solidFill>
                <a:latin typeface="Microsoft YaHe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7233C"/>
                </a:solidFill>
                <a:latin typeface="Microsoft YaHei"/>
              </a:defRPr>
            </a:pPr>
            <a:r>
              <a:t>Evidence audit：为什么这些结果可用于下一阶段设计？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528816"/>
            <a:ext cx="10881360" cy="0"/>
          </a:xfrm>
          <a:prstGeom prst="line">
            <a:avLst/>
          </a:prstGeom>
          <a:ln w="10160">
            <a:solidFill>
              <a:srgbClr val="D8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6539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T-RO · Guidance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6539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52627A"/>
                </a:solidFill>
                <a:latin typeface="Microsoft YaHei"/>
              </a:defRPr>
            </a:pPr>
            <a: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92224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92224"/>
            <a:ext cx="73152" cy="1170432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B8F8A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50591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Position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98064"/>
            <a:ext cx="3017520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2627A"/>
                </a:solidFill>
                <a:latin typeface="Microsoft YaHei"/>
              </a:defRPr>
            </a:pPr>
            <a:r>
              <a:t>完整 Start × Approach 3×3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92224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92224"/>
            <a:ext cx="73152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659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3A86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50591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dataset-policy seeds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98064"/>
            <a:ext cx="3017520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2627A"/>
                </a:solidFill>
                <a:latin typeface="Microsoft YaHei"/>
              </a:defRPr>
            </a:pPr>
            <a:r>
              <a:t>独立 policy realisations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792224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1792224"/>
            <a:ext cx="73152" cy="11704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19659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FF9F1C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450591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demos /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798064"/>
            <a:ext cx="3017520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2627A"/>
                </a:solidFill>
                <a:latin typeface="Microsoft YaHei"/>
              </a:defRPr>
            </a:pPr>
            <a:r>
              <a:t>固定小数据预算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209544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209544"/>
            <a:ext cx="73152" cy="1170432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383279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B8F8A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867911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selected checkpoints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215383"/>
            <a:ext cx="3017520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2627A"/>
                </a:solidFill>
                <a:latin typeface="Microsoft YaHei"/>
              </a:defRPr>
            </a:pPr>
            <a:r>
              <a:t>rollout 前冻结 hash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209544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209544"/>
            <a:ext cx="73152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383279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3A86FF"/>
                </a:solidFill>
                <a:latin typeface="Microsoft YaHei"/>
              </a:defRPr>
            </a:pPr>
            <a:r>
              <a:t>22,500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867911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formal rows analysed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215383"/>
            <a:ext cx="3017520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2627A"/>
                </a:solidFill>
                <a:latin typeface="Microsoft YaHei"/>
              </a:defRPr>
            </a:pPr>
            <a:r>
              <a:t>common + RMAX40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3209544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7888" y="3209544"/>
            <a:ext cx="73152" cy="11704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3383279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FF9F1C"/>
                </a:solidFill>
                <a:latin typeface="Microsoft YaHei"/>
              </a:defRPr>
            </a:pPr>
            <a:r>
              <a:t>52/52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3867911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7233C"/>
                </a:solidFill>
                <a:latin typeface="Microsoft YaHei"/>
              </a:defRPr>
            </a:pPr>
            <a:r>
              <a:t>relevant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4215383"/>
            <a:ext cx="3017520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2627A"/>
                </a:solidFill>
                <a:latin typeface="Microsoft YaHei"/>
              </a:defRPr>
            </a:pPr>
            <a:r>
              <a:t>strict merge + pairing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882896"/>
            <a:ext cx="10927080" cy="1069848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093208"/>
            <a:ext cx="206654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D59A"/>
                </a:solidFill>
                <a:latin typeface="Microsoft YaHei"/>
              </a:defRPr>
            </a:pPr>
            <a:r>
              <a:t>仍然不能越过的边界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63824" y="5074920"/>
            <a:ext cx="79735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Aptos"/>
              </a:defRPr>
            </a:pPr>
            <a:r>
              <a:t>single task · Position only · fixed DP learner · discrete candidate grid · simulation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5513832"/>
            <a:ext cx="102961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70" b="0">
                <a:solidFill>
                  <a:srgbClr val="AFC3DA"/>
                </a:solidFill>
                <a:latin typeface="Microsoft YaHei"/>
              </a:defRPr>
            </a:pPr>
            <a:r>
              <a:t>下一阶段的使命是扩展 external validity，而不是继续挖掘当前网格中的“更漂亮”数字。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6254496"/>
            <a:ext cx="4983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750" b="0">
                <a:solidFill>
                  <a:srgbClr val="7A879B"/>
                </a:solidFill>
                <a:latin typeface="Microsoft YaHei"/>
              </a:defRPr>
            </a:pPr>
            <a:r>
              <a:t>Frozen evidence: Stage 2 axial, RMAX40 rerollout, Stage 2c composition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Spatial Evidence 到 Guidance Generator</dc:title>
  <dc:subject>T-RO weekly research update: N=30 Position ID/OOD evidence</dc:subject>
  <dc:creator>polymetics_demt</dc:creator>
  <cp:keywords>Guidance Generator, Diffusion Policy, Position, ID, OOD, N=30</cp:keywords>
  <dc:description>Generated from frozen Stage 2c results. See experiments/tro_stage2_position_composition/analysis/summary.md.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